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B4E"/>
                </a:solidFill>
                <a:latin typeface="Arial"/>
              </a:rPr>
              <a:t>Transactions by Product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1FD-46E7-A858-B86E6077CE54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FD-46E7-A858-B86E6077CE54}"/>
              </c:ext>
            </c:extLst>
          </c:dPt>
          <c:dPt>
            <c:idx val="2"/>
            <c:invertIfNegative val="0"/>
            <c:bubble3D val="0"/>
            <c:spPr>
              <a:solidFill>
                <a:srgbClr val="20C9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FD-46E7-A858-B86E6077CE54}"/>
              </c:ext>
            </c:extLst>
          </c:dPt>
          <c:dPt>
            <c:idx val="3"/>
            <c:invertIfNegative val="0"/>
            <c:bubble3D val="0"/>
            <c:spPr>
              <a:solidFill>
                <a:srgbClr val="0A7A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FD-46E7-A858-B86E6077CE54}"/>
              </c:ext>
            </c:extLst>
          </c:dPt>
          <c:dPt>
            <c:idx val="4"/>
            <c:invertIfNegative val="0"/>
            <c:bubble3D val="0"/>
            <c:spPr>
              <a:solidFill>
                <a:srgbClr val="065F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FD-46E7-A858-B86E6077CE54}"/>
              </c:ext>
            </c:extLst>
          </c:dPt>
          <c:dPt>
            <c:idx val="5"/>
            <c:invertIfNegative val="0"/>
            <c:bubble3D val="0"/>
            <c:spPr>
              <a:solidFill>
                <a:srgbClr val="0888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1FD-46E7-A858-B86E6077CE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4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Health</c:v>
                </c:pt>
                <c:pt idx="1">
                  <c:v>Electronics</c:v>
                </c:pt>
                <c:pt idx="2">
                  <c:v>Fashion</c:v>
                </c:pt>
                <c:pt idx="3">
                  <c:v>Sports</c:v>
                </c:pt>
                <c:pt idx="4">
                  <c:v>Home &amp; Kitchen</c:v>
                </c:pt>
                <c:pt idx="5">
                  <c:v>Books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17200</c:v>
                </c:pt>
                <c:pt idx="1">
                  <c:v>16900</c:v>
                </c:pt>
                <c:pt idx="2">
                  <c:v>16700</c:v>
                </c:pt>
                <c:pt idx="3">
                  <c:v>16600</c:v>
                </c:pt>
                <c:pt idx="4">
                  <c:v>16400</c:v>
                </c:pt>
                <c:pt idx="5">
                  <c:v>16200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1FD-46E7-A858-B86E6077CE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0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0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B4E"/>
                </a:solidFill>
                <a:latin typeface="Arial"/>
              </a:rPr>
              <a:t>Transactions by Customer Segment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6C3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3A2-477F-940C-50FE6EC62335}"/>
              </c:ext>
            </c:extLst>
          </c:dPt>
          <c:dPt>
            <c:idx val="1"/>
            <c:invertIfNegative val="0"/>
            <c:bubble3D val="0"/>
            <c:spPr>
              <a:solidFill>
                <a:srgbClr val="E5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A2-477F-940C-50FE6EC62335}"/>
              </c:ext>
            </c:extLst>
          </c:dPt>
          <c:dPt>
            <c:idx val="2"/>
            <c:invertIfNegative val="0"/>
            <c:bubble3D val="0"/>
            <c:spPr>
              <a:solidFill>
                <a:srgbClr val="C887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3A2-477F-940C-50FE6EC623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4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New</c:v>
                </c:pt>
                <c:pt idx="1">
                  <c:v>Regular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38500</c:v>
                </c:pt>
                <c:pt idx="1">
                  <c:v>34200</c:v>
                </c:pt>
                <c:pt idx="2">
                  <c:v>27300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3A2-477F-940C-50FE6EC623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0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0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9AA7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E9AA7"/>
                </a:solidFill>
                <a:latin typeface="Arial"/>
              </a:rPr>
              <a:t>Payment Method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9A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27-4958-905C-F0A3F5A1F8C7}"/>
              </c:ext>
            </c:extLst>
          </c:dPt>
          <c:dPt>
            <c:idx val="1"/>
            <c:bubble3D val="0"/>
            <c:spPr>
              <a:solidFill>
                <a:srgbClr val="F6C3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27-4958-905C-F0A3F5A1F8C7}"/>
              </c:ext>
            </c:extLst>
          </c:dPt>
          <c:dPt>
            <c:idx val="2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27-4958-905C-F0A3F5A1F8C7}"/>
              </c:ext>
            </c:extLst>
          </c:dPt>
          <c:dPt>
            <c:idx val="3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127-4958-905C-F0A3F5A1F8C7}"/>
              </c:ext>
            </c:extLst>
          </c:dPt>
          <c:dPt>
            <c:idx val="4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127-4958-905C-F0A3F5A1F8C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27-4958-905C-F0A3F5A1F8C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27-4958-905C-F0A3F5A1F8C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27-4958-905C-F0A3F5A1F8C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127-4958-905C-F0A3F5A1F8C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127-4958-905C-F0A3F5A1F8C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Credit Card</c:v>
                </c:pt>
                <c:pt idx="1">
                  <c:v>Debit Card</c:v>
                </c:pt>
                <c:pt idx="2">
                  <c:v>UPI</c:v>
                </c:pt>
                <c:pt idx="3">
                  <c:v>Cash</c:v>
                </c:pt>
                <c:pt idx="4">
                  <c:v>Net Banking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28500</c:v>
                </c:pt>
                <c:pt idx="1">
                  <c:v>24000</c:v>
                </c:pt>
                <c:pt idx="2">
                  <c:v>21000</c:v>
                </c:pt>
                <c:pt idx="3">
                  <c:v>14500</c:v>
                </c:pt>
                <c:pt idx="4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27-4958-905C-F0A3F5A1F8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A6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6C34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F6C340"/>
                </a:solidFill>
                <a:latin typeface="Arial"/>
              </a:rPr>
              <a:t>Return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B67-4DC0-ABC9-9D31ABAFC89A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67-4DC0-ABC9-9D31ABAFC8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Returned</c:v>
                </c:pt>
                <c:pt idx="1">
                  <c:v>Returned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85000</c:v>
                </c:pt>
                <c:pt idx="1">
                  <c:v>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B67-4DC0-ABC9-9D31ABAFC8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A6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4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1B4E"/>
                </a:solidFill>
                <a:latin typeface="Arial"/>
              </a:rPr>
              <a:t>Product Price (₹) vs Avg Final Price (₹) — Strong Upward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Final Price (₹)</c:v>
                </c:pt>
              </c:strCache>
            </c:strRef>
          </c:tx>
          <c:spPr>
            <a:ln w="38100" cap="flat">
              <a:solidFill>
                <a:srgbClr val="0E9AA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9AA7"/>
              </a:solidFill>
              <a:ln w="9525" cap="flat">
                <a:solidFill>
                  <a:srgbClr val="0E9AA7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₹50</c:v>
                </c:pt>
                <c:pt idx="1">
                  <c:v>₹100</c:v>
                </c:pt>
                <c:pt idx="2">
                  <c:v>₹150</c:v>
                </c:pt>
                <c:pt idx="3">
                  <c:v>₹200</c:v>
                </c:pt>
                <c:pt idx="4">
                  <c:v>₹250</c:v>
                </c:pt>
                <c:pt idx="5">
                  <c:v>₹300</c:v>
                </c:pt>
                <c:pt idx="6">
                  <c:v>₹350</c:v>
                </c:pt>
                <c:pt idx="7">
                  <c:v>₹400</c:v>
                </c:pt>
                <c:pt idx="8">
                  <c:v>₹450</c:v>
                </c:pt>
                <c:pt idx="9">
                  <c:v>₹500</c:v>
                </c:pt>
                <c:pt idx="10">
                  <c:v>₹550</c:v>
                </c:pt>
                <c:pt idx="11">
                  <c:v>₹600</c:v>
                </c:pt>
                <c:pt idx="12">
                  <c:v>₹650</c:v>
                </c:pt>
                <c:pt idx="13">
                  <c:v>₹700</c:v>
                </c:pt>
                <c:pt idx="14">
                  <c:v>₹750</c:v>
                </c:pt>
                <c:pt idx="15">
                  <c:v>₹800</c:v>
                </c:pt>
                <c:pt idx="16">
                  <c:v>₹850</c:v>
                </c:pt>
                <c:pt idx="17">
                  <c:v>₹900</c:v>
                </c:pt>
                <c:pt idx="18">
                  <c:v>₹950</c:v>
                </c:pt>
                <c:pt idx="19">
                  <c:v>₹999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120</c:v>
                </c:pt>
                <c:pt idx="1">
                  <c:v>240</c:v>
                </c:pt>
                <c:pt idx="2">
                  <c:v>360</c:v>
                </c:pt>
                <c:pt idx="3">
                  <c:v>490</c:v>
                </c:pt>
                <c:pt idx="4">
                  <c:v>620</c:v>
                </c:pt>
                <c:pt idx="5">
                  <c:v>750</c:v>
                </c:pt>
                <c:pt idx="6">
                  <c:v>880</c:v>
                </c:pt>
                <c:pt idx="7">
                  <c:v>1010</c:v>
                </c:pt>
                <c:pt idx="8">
                  <c:v>1130</c:v>
                </c:pt>
                <c:pt idx="9">
                  <c:v>1260</c:v>
                </c:pt>
                <c:pt idx="10">
                  <c:v>1390</c:v>
                </c:pt>
                <c:pt idx="11">
                  <c:v>1520</c:v>
                </c:pt>
                <c:pt idx="12">
                  <c:v>1650</c:v>
                </c:pt>
                <c:pt idx="13">
                  <c:v>1780</c:v>
                </c:pt>
                <c:pt idx="14">
                  <c:v>1900</c:v>
                </c:pt>
                <c:pt idx="15">
                  <c:v>2030</c:v>
                </c:pt>
                <c:pt idx="16">
                  <c:v>2160</c:v>
                </c:pt>
                <c:pt idx="17">
                  <c:v>2290</c:v>
                </c:pt>
                <c:pt idx="18">
                  <c:v>2410</c:v>
                </c:pt>
                <c:pt idx="19">
                  <c:v>2530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8E-4999-A003-4618F548E2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0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0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9AA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E9AA7"/>
                </a:solidFill>
                <a:latin typeface="Arial"/>
              </a:rPr>
              <a:t>Avg Final Price by Customer Segment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Final Price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F30-4549-B9CD-F458B30900DF}"/>
              </c:ext>
            </c:extLst>
          </c:dPt>
          <c:dPt>
            <c:idx val="1"/>
            <c:invertIfNegative val="0"/>
            <c:bubble3D val="0"/>
            <c:spPr>
              <a:solidFill>
                <a:srgbClr val="F6C3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30-4549-B9CD-F458B30900DF}"/>
              </c:ext>
            </c:extLst>
          </c:dPt>
          <c:dPt>
            <c:idx val="2"/>
            <c:invertIfNegative val="0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F30-4549-B9CD-F458B30900D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New</c:v>
                </c:pt>
                <c:pt idx="1">
                  <c:v>Regular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1165</c:v>
                </c:pt>
                <c:pt idx="1">
                  <c:v>1245</c:v>
                </c:pt>
                <c:pt idx="2">
                  <c:v>1398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F30-4549-B9CD-F458B30900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A6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B4E"/>
                </a:solidFill>
                <a:latin typeface="Arial"/>
              </a:rPr>
              <a:t>Return Rate (%)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%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F16-45A9-B09B-F74D1ABF0311}"/>
              </c:ext>
            </c:extLst>
          </c:dPt>
          <c:dPt>
            <c:idx val="1"/>
            <c:invertIfNegative val="0"/>
            <c:bubble3D val="0"/>
            <c:spPr>
              <a:solidFill>
                <a:srgbClr val="F6C3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16-45A9-B09B-F74D1ABF0311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16-45A9-B09B-F74D1ABF0311}"/>
              </c:ext>
            </c:extLst>
          </c:dPt>
          <c:dPt>
            <c:idx val="3"/>
            <c:invertIfNegative val="0"/>
            <c:bubble3D val="0"/>
            <c:spPr>
              <a:solidFill>
                <a:srgbClr val="0E9A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16-45A9-B09B-F74D1ABF0311}"/>
              </c:ext>
            </c:extLst>
          </c:dPt>
          <c:dPt>
            <c:idx val="4"/>
            <c:invertIfNegative val="0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16-45A9-B09B-F74D1ABF0311}"/>
              </c:ext>
            </c:extLst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F16-45A9-B09B-F74D1ABF031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4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Fashion</c:v>
                </c:pt>
                <c:pt idx="1">
                  <c:v>Sports</c:v>
                </c:pt>
                <c:pt idx="2">
                  <c:v>Books</c:v>
                </c:pt>
                <c:pt idx="3">
                  <c:v>Health</c:v>
                </c:pt>
                <c:pt idx="4">
                  <c:v>Home &amp; Kitchen</c:v>
                </c:pt>
                <c:pt idx="5">
                  <c:v>Electronics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15.04</c:v>
                </c:pt>
                <c:pt idx="1">
                  <c:v>14.85</c:v>
                </c:pt>
                <c:pt idx="2">
                  <c:v>14.78</c:v>
                </c:pt>
                <c:pt idx="3">
                  <c:v>14.72</c:v>
                </c:pt>
                <c:pt idx="4">
                  <c:v>14.6</c:v>
                </c:pt>
                <c:pt idx="5">
                  <c:v>14.47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F16-45A9-B09B-F74D1ABF03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0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0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9AA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E9AA7"/>
                </a:solidFill>
                <a:latin typeface="Arial"/>
              </a:rPr>
              <a:t>Average Delivery Days by Shipping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Delivery Days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A4-4A39-ADBB-75526A7EF3F8}"/>
              </c:ext>
            </c:extLst>
          </c:dPt>
          <c:dPt>
            <c:idx val="1"/>
            <c:invertIfNegative val="0"/>
            <c:bubble3D val="0"/>
            <c:spPr>
              <a:solidFill>
                <a:srgbClr val="F6C3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8A4-4A39-ADBB-75526A7EF3F8}"/>
              </c:ext>
            </c:extLst>
          </c:dPt>
          <c:dPt>
            <c:idx val="2"/>
            <c:invertIfNegative val="0"/>
            <c:bubble3D val="0"/>
            <c:spPr>
              <a:solidFill>
                <a:srgbClr val="0E9A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8A4-4A39-ADBB-75526A7EF3F8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8A4-4A39-ADBB-75526A7EF3F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Express</c:v>
                </c:pt>
                <c:pt idx="1">
                  <c:v>Standard</c:v>
                </c:pt>
                <c:pt idx="2">
                  <c:v>Overnight</c:v>
                </c:pt>
                <c:pt idx="3">
                  <c:v>Economy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6.3</c:v>
                </c:pt>
                <c:pt idx="2">
                  <c:v>1.2</c:v>
                </c:pt>
                <c:pt idx="3">
                  <c:v>8.8000000000000007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8A4-4A39-ADBB-75526A7EF3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A6E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E"/>
                </a:solidFill>
                <a:latin typeface="Arial"/>
              </a:rPr>
              <a:t>Avg Final Price (₹) by Category &amp; Customer Segment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Health</c:v>
                </c:pt>
                <c:pt idx="1">
                  <c:v>Electronics</c:v>
                </c:pt>
                <c:pt idx="2">
                  <c:v>Fashion</c:v>
                </c:pt>
                <c:pt idx="3">
                  <c:v>Sports</c:v>
                </c:pt>
                <c:pt idx="4">
                  <c:v>Home&amp;Kitchen</c:v>
                </c:pt>
                <c:pt idx="5">
                  <c:v>Books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1140</c:v>
                </c:pt>
                <c:pt idx="1">
                  <c:v>1155</c:v>
                </c:pt>
                <c:pt idx="2">
                  <c:v>1170</c:v>
                </c:pt>
                <c:pt idx="3">
                  <c:v>1160</c:v>
                </c:pt>
                <c:pt idx="4">
                  <c:v>1175</c:v>
                </c:pt>
                <c:pt idx="5">
                  <c:v>1165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30-404B-95E3-0CB49D05F1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Regular</c:v>
                </c:pt>
              </c:strCache>
            </c:strRef>
          </c:tx>
          <c:spPr>
            <a:solidFill>
              <a:srgbClr val="F6C34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Health</c:v>
                </c:pt>
                <c:pt idx="1">
                  <c:v>Electronics</c:v>
                </c:pt>
                <c:pt idx="2">
                  <c:v>Fashion</c:v>
                </c:pt>
                <c:pt idx="3">
                  <c:v>Sports</c:v>
                </c:pt>
                <c:pt idx="4">
                  <c:v>Home&amp;Kitchen</c:v>
                </c:pt>
                <c:pt idx="5">
                  <c:v>Books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1230</c:v>
                </c:pt>
                <c:pt idx="1">
                  <c:v>1240</c:v>
                </c:pt>
                <c:pt idx="2">
                  <c:v>1250</c:v>
                </c:pt>
                <c:pt idx="3">
                  <c:v>1245</c:v>
                </c:pt>
                <c:pt idx="4">
                  <c:v>1260</c:v>
                </c:pt>
                <c:pt idx="5">
                  <c:v>1235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30-404B-95E3-0CB49D05F19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Health</c:v>
                </c:pt>
                <c:pt idx="1">
                  <c:v>Electronics</c:v>
                </c:pt>
                <c:pt idx="2">
                  <c:v>Fashion</c:v>
                </c:pt>
                <c:pt idx="3">
                  <c:v>Sports</c:v>
                </c:pt>
                <c:pt idx="4">
                  <c:v>Home&amp;Kitchen</c:v>
                </c:pt>
                <c:pt idx="5">
                  <c:v>Books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1360</c:v>
                </c:pt>
                <c:pt idx="1">
                  <c:v>1380</c:v>
                </c:pt>
                <c:pt idx="2">
                  <c:v>1410</c:v>
                </c:pt>
                <c:pt idx="3">
                  <c:v>1395</c:v>
                </c:pt>
                <c:pt idx="4">
                  <c:v>1445</c:v>
                </c:pt>
                <c:pt idx="5">
                  <c:v>1350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30-404B-95E3-0CB49D05F1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0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0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0D1B4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9AA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E9AA7"/>
                </a:solidFill>
                <a:latin typeface="Arial"/>
              </a:rPr>
              <a:t>Avg Final Price (₹) by Age Band &amp; Segment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56-70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1050</c:v>
                </c:pt>
                <c:pt idx="1">
                  <c:v>1180</c:v>
                </c:pt>
                <c:pt idx="2">
                  <c:v>1210</c:v>
                </c:pt>
                <c:pt idx="3">
                  <c:v>1155</c:v>
                </c:pt>
                <c:pt idx="4">
                  <c:v>1090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5E-4D52-A3D0-634C710FF7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Regular</c:v>
                </c:pt>
              </c:strCache>
            </c:strRef>
          </c:tx>
          <c:spPr>
            <a:solidFill>
              <a:srgbClr val="F6C34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56-70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1130</c:v>
                </c:pt>
                <c:pt idx="1">
                  <c:v>1270</c:v>
                </c:pt>
                <c:pt idx="2">
                  <c:v>1310</c:v>
                </c:pt>
                <c:pt idx="3">
                  <c:v>1240</c:v>
                </c:pt>
                <c:pt idx="4">
                  <c:v>1190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5E-4D52-A3D0-634C710FF7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56-70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1240</c:v>
                </c:pt>
                <c:pt idx="1">
                  <c:v>1420</c:v>
                </c:pt>
                <c:pt idx="2">
                  <c:v>1490</c:v>
                </c:pt>
                <c:pt idx="3">
                  <c:v>1360</c:v>
                </c:pt>
                <c:pt idx="4">
                  <c:v>1270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5E-4D52-A3D0-634C710FF7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A6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31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32261"/>
          </a:solidFill>
          <a:ln w="12700">
            <a:solidFill>
              <a:srgbClr val="132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0" y="274320"/>
            <a:ext cx="2011680" cy="2011680"/>
          </a:xfrm>
          <a:prstGeom prst="ellipse">
            <a:avLst/>
          </a:prstGeom>
          <a:solidFill>
            <a:srgbClr val="0E9AA7">
              <a:alpha val="20000"/>
            </a:srgbClr>
          </a:solidFill>
          <a:ln w="1905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0" y="2560320"/>
            <a:ext cx="1371600" cy="1371600"/>
          </a:xfrm>
          <a:prstGeom prst="ellipse">
            <a:avLst/>
          </a:prstGeom>
          <a:solidFill>
            <a:srgbClr val="F6C340">
              <a:alpha val="15000"/>
            </a:srgbClr>
          </a:solidFill>
          <a:ln w="19050">
            <a:solidFill>
              <a:srgbClr val="F6C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01168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3  ·  EDA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100" dirty="0">
                <a:solidFill>
                  <a:srgbClr val="F6C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Dataset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A4C8"/>
                </a:solidFill>
              </a:rPr>
              <a:t>Uncovering customer behavior, pricing patterns,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A4C8"/>
                </a:solidFill>
              </a:rPr>
              <a:t>and operational insights from 100,000 transactions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3657600"/>
            <a:ext cx="4114800" cy="777240"/>
          </a:xfrm>
          <a:prstGeom prst="rect">
            <a:avLst/>
          </a:prstGeom>
          <a:solidFill>
            <a:srgbClr val="1A3080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36576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C340"/>
                </a:solidFill>
              </a:rPr>
              <a:t>Shiwangi Shahi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4C8"/>
                </a:solidFill>
              </a:rPr>
              <a:t>NHIS Project Internship Programme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261"/>
          </a:solidFill>
          <a:ln w="12700">
            <a:solidFill>
              <a:srgbClr val="132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8BA4C8"/>
                </a:solidFill>
              </a:rPr>
              <a:t>Shiwangi Shahi  </a:t>
            </a:r>
            <a:r>
              <a:rPr lang="en-US" sz="850" dirty="0">
                <a:solidFill>
                  <a:srgbClr val="8BA4C8"/>
                </a:solidFill>
              </a:rPr>
              <a:t>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6C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Retail Dataset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20240" cy="1097280"/>
          </a:xfrm>
          <a:prstGeom prst="rect">
            <a:avLst/>
          </a:prstGeom>
          <a:solidFill>
            <a:srgbClr val="1A3080"/>
          </a:solidFill>
          <a:ln w="1905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837944"/>
            <a:ext cx="192024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Total Transactions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234440"/>
            <a:ext cx="1920240" cy="1097280"/>
          </a:xfrm>
          <a:prstGeom prst="rect">
            <a:avLst/>
          </a:prstGeom>
          <a:solidFill>
            <a:srgbClr val="1A3080"/>
          </a:solidFill>
          <a:ln w="19050">
            <a:solidFill>
              <a:srgbClr val="F6C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50592" y="13258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C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50592" y="1837944"/>
            <a:ext cx="192024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Feature 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234440"/>
            <a:ext cx="1920240" cy="1097280"/>
          </a:xfrm>
          <a:prstGeom prst="rect">
            <a:avLst/>
          </a:prstGeom>
          <a:solidFill>
            <a:srgbClr val="1A3080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26864" y="13258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26864" y="1837944"/>
            <a:ext cx="192024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Categorical Variables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1234440"/>
            <a:ext cx="1920240" cy="1097280"/>
          </a:xfrm>
          <a:prstGeom prst="rect">
            <a:avLst/>
          </a:prstGeom>
          <a:solidFill>
            <a:srgbClr val="1A308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03136" y="13258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03136" y="1837944"/>
            <a:ext cx="192024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Critical Null Values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146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64008" cy="10058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289864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060"/>
                </a:solidFill>
              </a:rPr>
              <a:t>age, product_price, quantity,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64060"/>
                </a:solidFill>
              </a:rPr>
              <a:t>discount_percentage, delivery_days, final_price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5146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C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2514600"/>
            <a:ext cx="64008" cy="1005840"/>
          </a:xfrm>
          <a:prstGeom prst="rect">
            <a:avLst/>
          </a:prstGeom>
          <a:solidFill>
            <a:srgbClr val="F6C340"/>
          </a:solidFill>
          <a:ln w="12700">
            <a:solidFill>
              <a:srgbClr val="F6C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9204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89864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060"/>
                </a:solidFill>
              </a:rPr>
              <a:t>product_category, customer_segment,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64060"/>
                </a:solidFill>
              </a:rPr>
              <a:t>payment_method, shipping_type, return_status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520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3520440"/>
            <a:ext cx="64008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1148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90448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060"/>
                </a:solidFill>
              </a:rPr>
              <a:t>final_price (revenue per transaction)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0" y="3520440"/>
            <a:ext cx="64008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9204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390448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060"/>
                </a:solidFill>
              </a:rPr>
              <a:t>No critical nulls; final_price type-cast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64060"/>
                </a:solidFill>
              </a:rPr>
              <a:t>from float → int for consistency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261"/>
          </a:solidFill>
          <a:ln w="12700">
            <a:solidFill>
              <a:srgbClr val="132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UNIVARIATE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 — Numerical Features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503920" cy="281635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Insight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35.4 yrs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14.2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Broad adult demographic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 Price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 501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289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 10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 999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Right-skewed distribution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Quantity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2.5 units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Mostly 1–4 items/order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Discount 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15.1%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Moderate discount spread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Delivery Days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4.5 days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Express vs Standard gap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Final Price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 1,253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850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 10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 4,985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 variance — outliers exist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51960"/>
            <a:ext cx="8595360" cy="41148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74320" y="42519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6C340"/>
                </a:solidFill>
              </a:rPr>
              <a:t>📊  Final price shows the highest variability (CV ≈ 68%), reflecting diverse customer segments and order sizes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UNIVARIATE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6C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Analysis — Skewness &amp; Kurtosis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337560"/>
          </a:xfrm>
          <a:prstGeom prst="rect">
            <a:avLst/>
          </a:prstGeom>
          <a:solidFill>
            <a:srgbClr val="162A6E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4114800" cy="347472"/>
          </a:xfrm>
          <a:prstGeom prst="rect">
            <a:avLst/>
          </a:prstGeom>
          <a:solidFill>
            <a:srgbClr val="0E9AA7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9AA7"/>
                </a:solidFill>
              </a:rPr>
              <a:t>SKEWNESS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664208"/>
            <a:ext cx="3840480" cy="603504"/>
          </a:xfrm>
          <a:prstGeom prst="rect">
            <a:avLst/>
          </a:prstGeom>
          <a:solidFill>
            <a:srgbClr val="132261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product_price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70078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</a:rPr>
              <a:t>Skew: +0.52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Right-skewed → many low-priced products, few premium outliers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359152"/>
            <a:ext cx="3840480" cy="603504"/>
          </a:xfrm>
          <a:prstGeom prst="rect">
            <a:avLst/>
          </a:prstGeom>
          <a:solidFill>
            <a:srgbClr val="132261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final_price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23957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</a:rPr>
              <a:t>Skew: +0.48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Slightly right-skewed → bulk of orders are mid-range purchases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3054096"/>
            <a:ext cx="3840480" cy="603504"/>
          </a:xfrm>
          <a:prstGeom prst="rect">
            <a:avLst/>
          </a:prstGeom>
          <a:solidFill>
            <a:srgbClr val="132261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0906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quantity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3090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C55E"/>
                </a:solidFill>
              </a:rPr>
              <a:t>Skew: +0.12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32841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Near-symmetric → balanced order quantities across customers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749040"/>
            <a:ext cx="3840480" cy="603504"/>
          </a:xfrm>
          <a:prstGeom prst="rect">
            <a:avLst/>
          </a:prstGeom>
          <a:solidFill>
            <a:srgbClr val="132261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discount_%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0" y="378561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C55E"/>
                </a:solidFill>
              </a:rPr>
              <a:t>Skew: −0.05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233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Approximately normal → discounts evenly distributed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1234440"/>
            <a:ext cx="4114800" cy="3337560"/>
          </a:xfrm>
          <a:prstGeom prst="rect">
            <a:avLst/>
          </a:prstGeom>
          <a:solidFill>
            <a:srgbClr val="162A6E"/>
          </a:solidFill>
          <a:ln w="12700">
            <a:solidFill>
              <a:srgbClr val="F6C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09160" y="1234440"/>
            <a:ext cx="4114800" cy="347472"/>
          </a:xfrm>
          <a:prstGeom prst="rect">
            <a:avLst/>
          </a:prstGeom>
          <a:solidFill>
            <a:srgbClr val="F6C34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C340"/>
                </a:solidFill>
              </a:rPr>
              <a:t>KURTOSIS ANALYSIS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664208"/>
            <a:ext cx="3840480" cy="658368"/>
          </a:xfrm>
          <a:prstGeom prst="rect">
            <a:avLst/>
          </a:prstGeom>
          <a:solidFill>
            <a:srgbClr val="132261"/>
          </a:solidFill>
          <a:ln w="12700">
            <a:solidFill>
              <a:srgbClr val="F6C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37760" y="17007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C340"/>
                </a:solidFill>
              </a:rPr>
              <a:t>final_price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195681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8"/>
                </a:solidFill>
              </a:rPr>
              <a:t>Kurt: −0.12 (Platykurtic)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21214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Flatter than normal — fewer extreme outliers than expected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2414016"/>
            <a:ext cx="3840480" cy="658368"/>
          </a:xfrm>
          <a:prstGeom prst="rect">
            <a:avLst/>
          </a:prstGeom>
          <a:solidFill>
            <a:srgbClr val="132261"/>
          </a:solidFill>
          <a:ln w="12700">
            <a:solidFill>
              <a:srgbClr val="F6C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0" y="2450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C340"/>
                </a:solidFill>
              </a:rPr>
              <a:t>product_price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270662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8"/>
                </a:solidFill>
              </a:rPr>
              <a:t>Kurt: −0.67 (Platykurtic)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287121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Broad, flat distribution — wide price range is the norm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3163824"/>
            <a:ext cx="3840480" cy="658368"/>
          </a:xfrm>
          <a:prstGeom prst="rect">
            <a:avLst/>
          </a:prstGeom>
          <a:solidFill>
            <a:srgbClr val="132261"/>
          </a:solidFill>
          <a:ln w="12700">
            <a:solidFill>
              <a:srgbClr val="F6C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0" y="3200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C340"/>
                </a:solidFill>
              </a:rPr>
              <a:t>delivery_days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345643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8"/>
                </a:solidFill>
              </a:rPr>
              <a:t>Kurt: +0.33 (Leptokurtic)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362102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Peaked — most deliveries cluster around 4–5 days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74320" y="45299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AA7"/>
                </a:solidFill>
              </a:rPr>
              <a:t>Key Takeaway: Both price variables show mild right-skewness → log transformation recommended before regression modelling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261"/>
          </a:solidFill>
          <a:ln w="12700">
            <a:solidFill>
              <a:srgbClr val="132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CATEGORICAL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Categories &amp; Customer Segments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42976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54880" y="123444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913632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274320" y="3913632"/>
            <a:ext cx="64008" cy="8229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411480" y="4005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Category Leads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11480" y="4297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060"/>
                </a:solidFill>
              </a:rPr>
              <a:t>Health &amp; Wellness products rank #1 in transaction volume, signalling strong consumer demand for wellness-oriented goods year-round.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54880" y="3913632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C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754880" y="3913632"/>
            <a:ext cx="64008" cy="822960"/>
          </a:xfrm>
          <a:prstGeom prst="rect">
            <a:avLst/>
          </a:prstGeom>
          <a:solidFill>
            <a:srgbClr val="F6C340"/>
          </a:solidFill>
          <a:ln w="12700">
            <a:solidFill>
              <a:srgbClr val="F6C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4892040" y="40050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Customers Dominate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92040" y="4297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060"/>
                </a:solidFill>
              </a:rPr>
              <a:t>38.5% of transactions are from New customers — strong acquisition pipeline, but retention strategies needed to grow Premium base.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CATEGORICAL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6C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Methods &amp; Return Behaviour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07008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09160" y="1207008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251960"/>
            <a:ext cx="4206240" cy="502920"/>
          </a:xfrm>
          <a:prstGeom prst="rect">
            <a:avLst/>
          </a:prstGeom>
          <a:solidFill>
            <a:srgbClr val="132261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365760" y="42519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Credit Card preferred (28.5%) — digital payment adoption is high; consider cashback offers to retain this segment.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709160" y="4251960"/>
            <a:ext cx="4114800" cy="502920"/>
          </a:xfrm>
          <a:prstGeom prst="rect">
            <a:avLst/>
          </a:prstGeom>
          <a:solidFill>
            <a:srgbClr val="132261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800600" y="4251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15% return rate — Fashion slightly higher (~15.04%); Electronics lowest (~14.47%). Difference not significant.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261"/>
          </a:solidFill>
          <a:ln w="12700">
            <a:solidFill>
              <a:srgbClr val="132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OUTLIER DETECTION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 — IQR &amp; Z-Score Methods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384048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C340"/>
                </a:solidFill>
              </a:rPr>
              <a:t>IQR METHOD  (Interquartile Range)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64208"/>
          <a:ext cx="4114800" cy="11521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IQR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Outliers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product_price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₹254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₹751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₹497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 (None)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final_price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₹503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₹1,887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₹1,384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503 rows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31546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E"/>
                </a:solidFill>
              </a:rPr>
              <a:t>product_price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64060"/>
                </a:solidFill>
              </a:rPr>
              <a:t>All values fall within the IQR fence → NO outliers detected. Pricing is bounded and consistent across the catalog.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382219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final_price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64060"/>
                </a:solidFill>
              </a:rPr>
              <a:t>503 records exceed the upper IQR fence — premium bulk orders, high-quantity transactions driving high final price.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23444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709160" y="1234440"/>
            <a:ext cx="4114800" cy="384048"/>
          </a:xfrm>
          <a:prstGeom prst="rect">
            <a:avLst/>
          </a:prstGeom>
          <a:solidFill>
            <a:srgbClr val="0A7A84"/>
          </a:solidFill>
          <a:ln w="12700">
            <a:solidFill>
              <a:srgbClr val="0A7A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09160" y="12344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Z-SCORE METHOD  (±3σ threshold)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64208"/>
          <a:ext cx="3840480" cy="122529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Mean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Std Dev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Outliers (|z|&gt;3)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product_price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₹501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₹289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 (None)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final_price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₹1,253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₹850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503 rows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846320" y="31546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060"/>
                </a:solidFill>
              </a:rPr>
              <a:t>Both IQR and Z-Score methods agree: final_price carries 503 extreme-value transactions. These high-value orders represent premium customers and do NOT require removal — they carry business intelligence.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BIVARIATE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6C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Matrix — Numerical Features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5797296" cy="3200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6C340"/>
                          </a:solidFill>
                        </a:rPr>
                        <a:t>age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6C340"/>
                          </a:solidFill>
                        </a:rPr>
                        <a:t>product_price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6C340"/>
                          </a:solidFill>
                        </a:rPr>
                        <a:t>quantity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6C340"/>
                          </a:solidFill>
                        </a:rPr>
                        <a:t>delivery_days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6C340"/>
                          </a:solidFill>
                        </a:rPr>
                        <a:t>discount_%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6C340"/>
                          </a:solidFill>
                        </a:rPr>
                        <a:t>final_price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6C340"/>
                          </a:solidFill>
                        </a:rPr>
                        <a:t>age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-0.01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6C340"/>
                          </a:solidFill>
                        </a:rPr>
                        <a:t>product_price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-0.01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-0.01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0.77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6C340"/>
                          </a:solidFill>
                        </a:rPr>
                        <a:t>quantity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0.67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6C340"/>
                          </a:solidFill>
                        </a:rPr>
                        <a:t>delivery_days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-0.01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6C340"/>
                          </a:solidFill>
                        </a:rPr>
                        <a:t>discount_%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-0.01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-0.01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-0.12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6C340"/>
                          </a:solidFill>
                        </a:rPr>
                        <a:t>final_price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0.77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0.67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0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-0.12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234440"/>
            <a:ext cx="3337560" cy="749808"/>
          </a:xfrm>
          <a:prstGeom prst="rect">
            <a:avLst/>
          </a:prstGeom>
          <a:solidFill>
            <a:srgbClr val="1A3080"/>
          </a:solidFill>
          <a:ln w="1524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77840" y="1271016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AA7"/>
                </a:solidFill>
              </a:rPr>
              <a:t>product_price → final_price  r = 0.77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577840" y="150876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BD5E1"/>
                </a:solidFill>
              </a:rPr>
              <a:t>Strong positive — as base price increases, revenue follows. Pricing is the primary revenue lever.</a:t>
            </a:r>
            <a:endParaRPr lang="en-US" sz="880" dirty="0"/>
          </a:p>
        </p:txBody>
      </p:sp>
      <p:sp>
        <p:nvSpPr>
          <p:cNvPr id="5" name="Shape 6"/>
          <p:cNvSpPr/>
          <p:nvPr/>
        </p:nvSpPr>
        <p:spPr>
          <a:xfrm>
            <a:off x="5486400" y="2057400"/>
            <a:ext cx="3337560" cy="749808"/>
          </a:xfrm>
          <a:prstGeom prst="rect">
            <a:avLst/>
          </a:prstGeom>
          <a:solidFill>
            <a:srgbClr val="1A3080"/>
          </a:solidFill>
          <a:ln w="15240">
            <a:solidFill>
              <a:srgbClr val="F6C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577840" y="2093976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6C340"/>
                </a:solidFill>
              </a:rPr>
              <a:t>quantity → final_price  r = 0.67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577840" y="233172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BD5E1"/>
                </a:solidFill>
              </a:rPr>
              <a:t>Moderate-strong — higher cart size boosts revenue. Bundle promotions would amplify this.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5486400" y="2880360"/>
            <a:ext cx="3337560" cy="749808"/>
          </a:xfrm>
          <a:prstGeom prst="rect">
            <a:avLst/>
          </a:prstGeom>
          <a:solidFill>
            <a:srgbClr val="1A3080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577840" y="2916936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</a:rPr>
              <a:t>discount_% → final_price  r = −0.12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77840" y="315468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BD5E1"/>
                </a:solidFill>
              </a:rPr>
              <a:t>Weak negative — discounts marginally reduce final revenue. Impact is contained; discounting strategy is sustainable.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486400" y="3703320"/>
            <a:ext cx="3337560" cy="749808"/>
          </a:xfrm>
          <a:prstGeom prst="rect">
            <a:avLst/>
          </a:prstGeom>
          <a:solidFill>
            <a:srgbClr val="1A3080"/>
          </a:solidFill>
          <a:ln w="1524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577840" y="3739896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55F7"/>
                </a:solidFill>
              </a:rPr>
              <a:t>age → final_price  r = 0.02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397764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BD5E1"/>
                </a:solidFill>
              </a:rPr>
              <a:t>Near-zero — spending is age-independent. Marketing can target all demographics equally.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261"/>
          </a:solidFill>
          <a:ln w="12700">
            <a:solidFill>
              <a:srgbClr val="132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BIVARIATE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Price vs Final Price — Scatter Analysis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34440"/>
            <a:ext cx="3063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760720" y="1234440"/>
            <a:ext cx="3063240" cy="384048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760720" y="12344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C340"/>
                </a:solidFill>
              </a:rPr>
              <a:t>PEARSON CORRELATION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166420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0.77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5760720" y="23774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4E"/>
                </a:solidFill>
              </a:rPr>
              <a:t>Strong Positive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52160" y="28346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E"/>
                </a:solidFill>
              </a:rPr>
              <a:t>Pricing Consistency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0" y="30358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060"/>
                </a:solidFill>
              </a:rPr>
              <a:t>Uniform discounting keeps the price-revenue relationship tight across all categories.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52160" y="338328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E"/>
                </a:solidFill>
              </a:rPr>
              <a:t>Revenue Predictability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52160" y="35844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060"/>
                </a:solidFill>
              </a:rPr>
              <a:t>High r² allows reliable sales revenue forecasting from catalog pricing alone.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52160" y="39319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E"/>
                </a:solidFill>
              </a:rPr>
              <a:t>Outlier Zone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52160" y="41330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060"/>
                </a:solidFill>
              </a:rPr>
              <a:t>High-price high-revenue transactions (top-right cluster) = premium customer orders.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BIVARIATE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6C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vs Average Spending (Final Price)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50292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234440"/>
            <a:ext cx="3337560" cy="914400"/>
          </a:xfrm>
          <a:prstGeom prst="rect">
            <a:avLst/>
          </a:prstGeom>
          <a:solidFill>
            <a:srgbClr val="1A3080"/>
          </a:solidFill>
          <a:ln w="1905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77840" y="128016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AA7"/>
                </a:solidFill>
              </a:rPr>
              <a:t>New  ·  38.5% of orders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577840" y="153619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Avg: ₹1,165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1783080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Acquisition success; lower avg spend — first-buy or trial orders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0" y="2258568"/>
            <a:ext cx="3337560" cy="914400"/>
          </a:xfrm>
          <a:prstGeom prst="rect">
            <a:avLst/>
          </a:prstGeom>
          <a:solidFill>
            <a:srgbClr val="1A3080"/>
          </a:solidFill>
          <a:ln w="19050">
            <a:solidFill>
              <a:srgbClr val="F6C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577840" y="230428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C340"/>
                </a:solidFill>
              </a:rPr>
              <a:t>Regular  ·  34.2% of orders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577840" y="25603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Avg: ₹1,245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77840" y="2807208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Growing loyalty; moderate uplift from repeat purchases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0" y="3282696"/>
            <a:ext cx="3337560" cy="914400"/>
          </a:xfrm>
          <a:prstGeom prst="rect">
            <a:avLst/>
          </a:prstGeom>
          <a:solidFill>
            <a:srgbClr val="1A3080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577840" y="332841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</a:rPr>
              <a:t>Premium  ·  27.3% of orders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358444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Avg: ₹1,398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577840" y="3831336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Highest spend (+20% vs New); target for VIP loyalty programs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4320" y="44074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6C340"/>
                </a:solidFill>
              </a:rPr>
              <a:t>↑ 20% spending gap between New and Premium customers — premium retention ROI is extremely high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261"/>
          </a:solidFill>
          <a:ln w="12700">
            <a:solidFill>
              <a:srgbClr val="132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BIVARIATE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Rate Analysis by Product Category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34440"/>
            <a:ext cx="3063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760720" y="1234440"/>
            <a:ext cx="64008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897880" y="13258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 — Highest Returns (15.04%)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97880" y="161848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060"/>
                </a:solidFill>
              </a:rPr>
              <a:t>Fit, size, and color mismatches drive Fashion returns. Virtual try-on and improved size guides can reduce this.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2331720"/>
            <a:ext cx="3063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760720" y="2331720"/>
            <a:ext cx="64008" cy="10058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897880" y="24231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— Lowest (14.47%)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97880" y="27157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060"/>
                </a:solidFill>
              </a:rPr>
              <a:t>Specification-driven purchases result in fewer surprises. Clear product descriptions contribute to satisfaction.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60720" y="3429000"/>
            <a:ext cx="3063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760720" y="3429000"/>
            <a:ext cx="64008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897880" y="35204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Spread: 0.57%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97880" y="3813048"/>
            <a:ext cx="2880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060"/>
                </a:solidFill>
              </a:rPr>
              <a:t>The difference between highest and lowest return rate is marginal — quality is uniformly maintained across the catalog.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4320" y="4370832"/>
            <a:ext cx="8595360" cy="384048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43708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6C340"/>
                </a:solidFill>
              </a:rPr>
              <a:t>Overall return rate: 15.0% — relatively low and consistent across all categories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BIVARIATE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6C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Type vs Delivery Days — Operational Insight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50292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234440"/>
            <a:ext cx="3337560" cy="713232"/>
          </a:xfrm>
          <a:prstGeom prst="rect">
            <a:avLst/>
          </a:prstGeom>
          <a:solidFill>
            <a:srgbClr val="1A3080"/>
          </a:solidFill>
          <a:ln w="1524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77840" y="128016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AA7"/>
                </a:solidFill>
              </a:rPr>
              <a:t>Overnight  —  1.2 days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577840" y="154533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Fastest option — premium segment preferred for time-sensitive gifting.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0" y="2039112"/>
            <a:ext cx="3337560" cy="713232"/>
          </a:xfrm>
          <a:prstGeom prst="rect">
            <a:avLst/>
          </a:prstGeom>
          <a:solidFill>
            <a:srgbClr val="1A3080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577840" y="20848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Express  —  2.1 days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235000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Balance of speed &amp; cost — most popular upgrade from standard.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2843784"/>
            <a:ext cx="3337560" cy="713232"/>
          </a:xfrm>
          <a:prstGeom prst="rect">
            <a:avLst/>
          </a:prstGeom>
          <a:solidFill>
            <a:srgbClr val="1A3080"/>
          </a:solidFill>
          <a:ln w="15240">
            <a:solidFill>
              <a:srgbClr val="F6C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577840" y="2889504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C340"/>
                </a:solidFill>
              </a:rPr>
              <a:t>Standard  —  6.3 days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315468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Economy choice — correlates with slightly higher return rate.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0" y="3648456"/>
            <a:ext cx="3337560" cy="713232"/>
          </a:xfrm>
          <a:prstGeom prst="rect">
            <a:avLst/>
          </a:prstGeom>
          <a:solidFill>
            <a:srgbClr val="1A3080"/>
          </a:solidFill>
          <a:ln w="1524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577840" y="369417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Economy  —  8.8 days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395935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Longest wait — price-sensitive shoppers; higher churn risk.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4320" y="44074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AA7"/>
                </a:solidFill>
              </a:rPr>
              <a:t>Returns are 12% more likely with Economy shipping — faster shipping = better customer experience = lower returns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261"/>
          </a:solidFill>
          <a:ln w="12700">
            <a:solidFill>
              <a:srgbClr val="132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MULTIVARIATE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Price by Product Category &amp; Customer Segment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859536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79392"/>
            <a:ext cx="2788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74320" y="4279392"/>
            <a:ext cx="64008" cy="5120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4279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E"/>
                </a:solidFill>
              </a:rPr>
              <a:t>Home &amp; Kitchen Leads Revenue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480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060"/>
                </a:solidFill>
              </a:rPr>
              <a:t>Highest avg final price across ALL segments — product mix (large items) boosts order value.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82112" y="4279392"/>
            <a:ext cx="2788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182112" y="4279392"/>
            <a:ext cx="64008" cy="5120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364992" y="4279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E"/>
                </a:solidFill>
              </a:rPr>
              <a:t>Premium Segment Consistent Premium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64992" y="4480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060"/>
                </a:solidFill>
              </a:rPr>
              <a:t>Premium customers spend 15-20% more than New customers regardless of category.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089904" y="4279392"/>
            <a:ext cx="2788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6C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089904" y="4279392"/>
            <a:ext cx="64008" cy="512064"/>
          </a:xfrm>
          <a:prstGeom prst="rect">
            <a:avLst/>
          </a:prstGeom>
          <a:solidFill>
            <a:srgbClr val="F6C340"/>
          </a:solidFill>
          <a:ln w="12700">
            <a:solidFill>
              <a:srgbClr val="F6C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272784" y="4279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E"/>
                </a:solidFill>
              </a:rPr>
              <a:t>Fashion — Premium Uplift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72784" y="4480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060"/>
                </a:solidFill>
              </a:rPr>
              <a:t>Largest gap between New and Premium in Fashion (+21%) — upsell opportunity in apparel.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MULTIVARIATE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6C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Group × Customer Segment × Spending Behaviour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54864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234440"/>
            <a:ext cx="2880360" cy="704088"/>
          </a:xfrm>
          <a:prstGeom prst="rect">
            <a:avLst/>
          </a:prstGeom>
          <a:solidFill>
            <a:srgbClr val="1A3080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035040" y="128016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6C340"/>
                </a:solidFill>
              </a:rPr>
              <a:t>★  Peak Spending: 36-45 yrs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0" y="153619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The 36-45 age band shows the highest spending across ALL segments — peak earning years drive premium purchases.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0" y="2029968"/>
            <a:ext cx="2880360" cy="704088"/>
          </a:xfrm>
          <a:prstGeom prst="rect">
            <a:avLst/>
          </a:prstGeom>
          <a:solidFill>
            <a:srgbClr val="1A3080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035040" y="2075688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6C340"/>
                </a:solidFill>
              </a:rPr>
              <a:t>↑  Premium × 36-45 = ₹1,490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35040" y="23317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Highest spending group in the dataset — core target for high-value product campaigns.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0" y="2825496"/>
            <a:ext cx="2880360" cy="704088"/>
          </a:xfrm>
          <a:prstGeom prst="rect">
            <a:avLst/>
          </a:prstGeom>
          <a:solidFill>
            <a:srgbClr val="1A3080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035040" y="2871216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6C340"/>
                </a:solidFill>
              </a:rPr>
              <a:t>~  Age is a Weak Predictor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35040" y="312724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Correlation r = 0.02 — segment status matters more than age in determining spend.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43600" y="3621024"/>
            <a:ext cx="2880360" cy="704088"/>
          </a:xfrm>
          <a:prstGeom prst="rect">
            <a:avLst/>
          </a:prstGeom>
          <a:solidFill>
            <a:srgbClr val="1A3080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035040" y="366674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6C340"/>
                </a:solidFill>
              </a:rPr>
              <a:t>→  Youth (18-25) Opportunity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35040" y="39227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Lowest current spend — however, converting young New → Premium unlocks long-term LTV.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261"/>
          </a:solidFill>
          <a:ln w="12700">
            <a:solidFill>
              <a:srgbClr val="132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6C340"/>
          </a:solidFill>
          <a:ln w="12700">
            <a:solidFill>
              <a:srgbClr val="F6C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9AA7"/>
                </a:solidFill>
              </a:rPr>
              <a:t>KEY INSIGHTS &amp; 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C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Findings — Retail Dataset EDA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88920" cy="1298448"/>
          </a:xfrm>
          <a:prstGeom prst="rect">
            <a:avLst/>
          </a:prstGeom>
          <a:solidFill>
            <a:srgbClr val="1A3080"/>
          </a:solidFill>
          <a:ln w="1905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47472" cy="34747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E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32588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AA7"/>
                </a:solidFill>
              </a:rPr>
              <a:t>Pricing Drives Revenue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70992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product_price and quantity are the two strongest revenue levers (r = 0.77 &amp; 0.67). Prioritise premium product listings.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788920" cy="1298448"/>
          </a:xfrm>
          <a:prstGeom prst="rect">
            <a:avLst/>
          </a:prstGeom>
          <a:solidFill>
            <a:srgbClr val="1A3080"/>
          </a:solidFill>
          <a:ln w="19050">
            <a:solidFill>
              <a:srgbClr val="F6C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347472" cy="347472"/>
          </a:xfrm>
          <a:prstGeom prst="ellipse">
            <a:avLst/>
          </a:prstGeom>
          <a:solidFill>
            <a:srgbClr val="F6C340"/>
          </a:solidFill>
          <a:ln w="12700">
            <a:solidFill>
              <a:srgbClr val="F6C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3756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E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76472" y="132588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6C340"/>
                </a:solidFill>
              </a:rPr>
              <a:t>Retention Gap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170992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38.5% New vs 27.3% Premium — retention strategies (loyalty rewards, personalised offers) can shift mix toward high-value customers.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234440"/>
            <a:ext cx="2788920" cy="1298448"/>
          </a:xfrm>
          <a:prstGeom prst="rect">
            <a:avLst/>
          </a:prstGeom>
          <a:solidFill>
            <a:srgbClr val="1A3080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63640" y="1325880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6364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E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02552" y="132588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</a:rPr>
              <a:t>Shipping → Returns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170992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Economy shipping correlates with higher return likelihood. Incentivising Express upgrades reduces operational return costs.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651760"/>
            <a:ext cx="2788920" cy="1298448"/>
          </a:xfrm>
          <a:prstGeom prst="rect">
            <a:avLst/>
          </a:prstGeom>
          <a:solidFill>
            <a:srgbClr val="1A3080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274320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E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" y="27432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</a:rPr>
              <a:t>Category Focus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12724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Home &amp; Kitchen highest avg revenue; Health highest volume. Cross-sell Health → Home &amp; Kitchen for revenue maximisation.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651760"/>
            <a:ext cx="2788920" cy="1298448"/>
          </a:xfrm>
          <a:prstGeom prst="rect">
            <a:avLst/>
          </a:prstGeom>
          <a:solidFill>
            <a:srgbClr val="1A308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337560" y="274320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3756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E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76472" y="27432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Discount Control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37560" y="312724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Discount % has only r = -0.12 impact on final_price — current discounting strategy is sustainable; marginal revenue loss is controlled.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2651760"/>
            <a:ext cx="2788920" cy="1298448"/>
          </a:xfrm>
          <a:prstGeom prst="rect">
            <a:avLst/>
          </a:prstGeom>
          <a:solidFill>
            <a:srgbClr val="1A3080"/>
          </a:solidFill>
          <a:ln w="19050">
            <a:solidFill>
              <a:srgbClr val="8BA4C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263640" y="2743200"/>
            <a:ext cx="347472" cy="347472"/>
          </a:xfrm>
          <a:prstGeom prst="ellipse">
            <a:avLst/>
          </a:prstGeom>
          <a:solidFill>
            <a:srgbClr val="8BA4C8"/>
          </a:solidFill>
          <a:ln w="12700">
            <a:solidFill>
              <a:srgbClr val="8BA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6364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E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02552" y="27432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4C8"/>
                </a:solidFill>
              </a:rPr>
              <a:t>Target Demographic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63640" y="312724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Premium customers aged 36-45 represent the highest-value segment. Dedicated campaigns for this cohort yield best ROI.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261"/>
          </a:solidFill>
          <a:ln w="12700">
            <a:solidFill>
              <a:srgbClr val="132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8"/>
                </a:solidFill>
              </a:rPr>
              <a:t>Shiwangi Shahi  |  Project 3 — Retail Dataset EDA  |  NHIS Internship Programme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1737</Words>
  <Application>Microsoft Office PowerPoint</Application>
  <PresentationFormat>On-screen Show (16:9)</PresentationFormat>
  <Paragraphs>329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Dataset EDA - Project 3</dc:title>
  <dc:subject>PptxGenJS Presentation</dc:subject>
  <dc:creator>Shiwangi Sahi</dc:creator>
  <cp:lastModifiedBy>Shiwangi Shahi</cp:lastModifiedBy>
  <cp:revision>6</cp:revision>
  <dcterms:created xsi:type="dcterms:W3CDTF">2026-03-25T06:11:06Z</dcterms:created>
  <dcterms:modified xsi:type="dcterms:W3CDTF">2026-03-25T11:28:23Z</dcterms:modified>
</cp:coreProperties>
</file>